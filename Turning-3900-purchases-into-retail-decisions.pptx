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Funnel Sans" panose="020B0604020202020204" charset="0"/>
      <p:regular r:id="rId12"/>
    </p:embeddedFont>
    <p:embeddedFont>
      <p:font typeface="Funnel Sans Bold" panose="020B0604020202020204" charset="0"/>
      <p:regular r:id="rId13"/>
    </p:embeddedFont>
    <p:embeddedFont>
      <p:font typeface="Funnel Sans SemiBold" panose="020B0604020202020204" charset="0"/>
      <p:regular r:id="rId14"/>
    </p:embeddedFont>
    <p:embeddedFont>
      <p:font typeface="Young Serif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354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99042" cy="6858000"/>
          </a:xfrm>
          <a:prstGeom prst="rect">
            <a:avLst/>
          </a:prstGeom>
          <a:solidFill>
            <a:srgbClr val="244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0383" y="814090"/>
            <a:ext cx="51052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86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Turning 3,900 purchases</a:t>
            </a:r>
            <a:endParaRPr lang="en-US" sz="7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200" kern="100" spc="-86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into retail decisions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60383" y="5566827"/>
            <a:ext cx="510527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 Shopping Behavior Analysis | Data Analyst portfolio case study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36" y="254000"/>
            <a:ext cx="5384665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72783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THE BUSINESS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72"/>
            <a:ext cx="10870928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business question was simple: what drives value and repeat behavior?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4099818"/>
            <a:ext cx="5206870" cy="209778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9625" y="4437638"/>
            <a:ext cx="450838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9625" y="4957624"/>
            <a:ext cx="450838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Who spends, what sells, and where loyalty is forming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24442" y="4099818"/>
            <a:ext cx="5206870" cy="2097782"/>
          </a:xfrm>
          <a:prstGeom prst="rect">
            <a:avLst/>
          </a:prstGeom>
          <a:solidFill>
            <a:srgbClr val="E4E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54634" y="4418588"/>
            <a:ext cx="454648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Translate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54634" y="4938574"/>
            <a:ext cx="454648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Transaction-level data into actions for subscriptions, promotions, products, and marketing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284" y="672584"/>
            <a:ext cx="1148071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FROM RAW DATA TO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284" y="911408"/>
            <a:ext cx="108711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I built a clean path from raw data to decision-ready insight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65" y="2812653"/>
            <a:ext cx="2503822" cy="121880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39" y="2561927"/>
            <a:ext cx="2908227" cy="172035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181" y="2561927"/>
            <a:ext cx="2792640" cy="156626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55393" y="4483619"/>
            <a:ext cx="814367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8" name="Shape 3"/>
          <p:cNvSpPr/>
          <p:nvPr/>
        </p:nvSpPr>
        <p:spPr>
          <a:xfrm>
            <a:off x="762675" y="4839791"/>
            <a:ext cx="3318883" cy="19050"/>
          </a:xfrm>
          <a:prstGeom prst="roundRect">
            <a:avLst>
              <a:gd name="adj" fmla="val 49999"/>
            </a:avLst>
          </a:prstGeom>
          <a:solidFill>
            <a:srgbClr val="244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06717" y="5046682"/>
            <a:ext cx="331888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Prepare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60284" y="5523035"/>
            <a:ext cx="3318883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Prepared and validated the data in Python with pandas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131564" y="4483619"/>
            <a:ext cx="814367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4436356" y="4858841"/>
            <a:ext cx="3318983" cy="19050"/>
          </a:xfrm>
          <a:prstGeom prst="roundRect">
            <a:avLst>
              <a:gd name="adj" fmla="val 49999"/>
            </a:avLst>
          </a:prstGeom>
          <a:solidFill>
            <a:srgbClr val="244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482889" y="5046682"/>
            <a:ext cx="331908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Query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482889" y="5578597"/>
            <a:ext cx="3319082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Loaded the cleaned dataset into PostgreSQL for business questions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907636" y="4483619"/>
            <a:ext cx="814367" cy="26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50" dirty="0">
                <a:solidFill>
                  <a:srgbClr val="2443D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259060" y="4877891"/>
            <a:ext cx="3318883" cy="19050"/>
          </a:xfrm>
          <a:prstGeom prst="roundRect">
            <a:avLst>
              <a:gd name="adj" fmla="val 49999"/>
            </a:avLst>
          </a:prstGeom>
          <a:solidFill>
            <a:srgbClr val="244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212527" y="5046682"/>
            <a:ext cx="331888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Explain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109839" y="5578597"/>
            <a:ext cx="3318883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Visualized the findings in an interactive Power BI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72783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72"/>
            <a:ext cx="10870928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data was broad enough to connect customer, product, and service behavior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3385741"/>
            <a:ext cx="3420382" cy="2811859"/>
          </a:xfrm>
          <a:prstGeom prst="rect">
            <a:avLst/>
          </a:prstGeom>
          <a:solidFill>
            <a:srgbClr val="244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5176" y="3806047"/>
            <a:ext cx="2810797" cy="87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200" kern="100" spc="-86" dirty="0">
                <a:solidFill>
                  <a:srgbClr val="F8C86D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3,900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65176" y="4738509"/>
            <a:ext cx="281079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purchases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5176" y="5195054"/>
            <a:ext cx="281079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Across 18 columns and 25 products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5557" y="3385741"/>
            <a:ext cx="3420481" cy="2811859"/>
          </a:xfrm>
          <a:prstGeom prst="rect">
            <a:avLst/>
          </a:prstGeom>
          <a:solidFill>
            <a:srgbClr val="E4E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90350" y="3727371"/>
            <a:ext cx="281089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Behavior connected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90350" y="4183916"/>
            <a:ext cx="2810896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 demographics, purchase details, discounts, shipping, ratings, and purchase frequency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10831" y="3385741"/>
            <a:ext cx="3420382" cy="2811859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4673" y="3825097"/>
            <a:ext cx="2772698" cy="87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200" kern="100" spc="-86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37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8434673" y="4757559"/>
            <a:ext cx="277269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review ratings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34673" y="5214104"/>
            <a:ext cx="277269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Handled with category-level median imputation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72783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COMMERCIAL SIGNALS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72"/>
            <a:ext cx="10870928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strongest commercial signal was concentrated in a few customer behaviors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0383" y="2174796"/>
            <a:ext cx="114805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4A4E6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Revenue is concentrated among male customers, while express shipping is associated with a modestly higher average purchase.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2816126"/>
            <a:ext cx="6603835" cy="3175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33561" y="2587526"/>
            <a:ext cx="3297651" cy="3632200"/>
          </a:xfrm>
          <a:prstGeom prst="rect">
            <a:avLst/>
          </a:prstGeom>
          <a:solidFill>
            <a:srgbClr val="244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38354" y="3393793"/>
            <a:ext cx="2688066" cy="877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200" kern="100" spc="-86" dirty="0">
                <a:solidFill>
                  <a:srgbClr val="F8C86D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839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538354" y="4326255"/>
            <a:ext cx="2688066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customers used discounts while still spending above the average purchase amount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72783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LOYALTY AND SUBSCRIPTION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72"/>
            <a:ext cx="10870928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Loyalty is present, but subscription value is not yet proven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2166541"/>
            <a:ext cx="5283068" cy="3213398"/>
          </a:xfrm>
          <a:prstGeom prst="rect">
            <a:avLst/>
          </a:prstGeom>
          <a:solidFill>
            <a:srgbClr val="E4E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5176" y="2485311"/>
            <a:ext cx="467348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Loyalty mix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5176" y="2999581"/>
            <a:ext cx="4673483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443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3,116</a:t>
            </a: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Loyal</a:t>
            </a:r>
            <a:endParaRPr lang="en-US" sz="1800" dirty="0"/>
          </a:p>
          <a:p>
            <a:pPr marL="0" indent="0" algn="l">
              <a:lnSpc>
                <a:spcPct val="117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443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701</a:t>
            </a: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Returning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2800" dirty="0">
                <a:solidFill>
                  <a:srgbClr val="2443D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83</a:t>
            </a: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New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8244" y="2166541"/>
            <a:ext cx="5283068" cy="3213398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72086" y="2504361"/>
            <a:ext cx="463538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Subscription comparison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72086" y="3024346"/>
            <a:ext cx="4635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Subscribers averaged </a:t>
            </a:r>
            <a:r>
              <a:rPr lang="en-US" sz="1800" b="1" dirty="0">
                <a:solidFill>
                  <a:srgbClr val="171A33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$59.49</a:t>
            </a: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versus </a:t>
            </a:r>
            <a:r>
              <a:rPr lang="en-US" sz="1800" b="1" dirty="0">
                <a:solidFill>
                  <a:srgbClr val="171A33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$59.87</a:t>
            </a: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non-subscribers.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72086" y="3847505"/>
            <a:ext cx="4635384" cy="31651"/>
          </a:xfrm>
          <a:prstGeom prst="roundRect">
            <a:avLst>
              <a:gd name="adj" fmla="val 49998"/>
            </a:avLst>
          </a:prstGeom>
          <a:solidFill>
            <a:srgbClr val="D9D5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72086" y="4073882"/>
            <a:ext cx="4635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Non-subscribers generated </a:t>
            </a:r>
            <a:r>
              <a:rPr lang="en-US" sz="1800" b="1" dirty="0">
                <a:solidFill>
                  <a:srgbClr val="171A33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$170,436</a:t>
            </a: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 revenue versus </a:t>
            </a:r>
            <a:r>
              <a:rPr lang="en-US" sz="1800" b="1" dirty="0">
                <a:solidFill>
                  <a:srgbClr val="171A33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$62,645</a:t>
            </a: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from subscribers.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72086" y="4849733"/>
            <a:ext cx="495922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 dirty="0">
                <a:solidFill>
                  <a:srgbClr val="4A4E66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Among repeat buyers, 958 subscribed and 2,518 did not.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1394599"/>
            <a:ext cx="43738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THE EXPLORATION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1701288"/>
            <a:ext cx="3764265" cy="197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The dashboard made the story easy to explore and explain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60383" y="3881497"/>
            <a:ext cx="3764265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views connected subscription status, category, shipping type, customer count, purchase amount, ratings, revenue, and sales by age group.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542122" y="0"/>
            <a:ext cx="6649573" cy="6858000"/>
          </a:xfrm>
          <a:prstGeom prst="roundRect">
            <a:avLst>
              <a:gd name="adj" fmla="val 4125"/>
            </a:avLst>
          </a:prstGeom>
          <a:solidFill>
            <a:srgbClr val="E4E9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716" y="1679178"/>
            <a:ext cx="6192385" cy="34996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72783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PRODUCT AND CATEGORY SIGNALS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79472"/>
            <a:ext cx="10870928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kern="100" spc="-22" dirty="0">
                <a:solidFill>
                  <a:srgbClr val="171A33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Product and category signals point to focused merchandising moves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3346648"/>
            <a:ext cx="3420382" cy="2850952"/>
          </a:xfrm>
          <a:prstGeom prst="rect">
            <a:avLst/>
          </a:prstGeom>
          <a:solidFill>
            <a:srgbClr val="E4E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9776" y="3794323"/>
            <a:ext cx="286159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5000" kern="100" spc="-60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~$100K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39776" y="4482028"/>
            <a:ext cx="286159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Clothing led category revenue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9776" y="5235734"/>
            <a:ext cx="286159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Accessories followed at about $75K.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5557" y="3346648"/>
            <a:ext cx="3420481" cy="2850952"/>
          </a:xfrm>
          <a:prstGeom prst="rect">
            <a:avLst/>
          </a:prstGeom>
          <a:noFill/>
          <a:ln w="19050">
            <a:solidFill>
              <a:srgbClr val="171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84000" y="3758128"/>
            <a:ext cx="282359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Top-rated products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4000" y="4214674"/>
            <a:ext cx="282359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Gloves at 3.86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Sandals at 3.84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Boots at 3.82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10831" y="3346648"/>
            <a:ext cx="3420382" cy="2850952"/>
          </a:xfrm>
          <a:prstGeom prst="rect">
            <a:avLst/>
          </a:prstGeom>
          <a:solidFill>
            <a:srgbClr val="244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90224" y="3794323"/>
            <a:ext cx="286159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5000" kern="100" spc="-60" dirty="0">
                <a:solidFill>
                  <a:srgbClr val="F8C86D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50.00%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8390224" y="4482028"/>
            <a:ext cx="286159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discounted-purchase rate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90224" y="4938574"/>
            <a:ext cx="2861596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Hats led, followed by Sneakers, Coats, Sweaters, and Pants.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72783"/>
            <a:ext cx="114805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3" dirty="0">
                <a:solidFill>
                  <a:srgbClr val="171A33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FROM ANALYSIS TO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964486"/>
            <a:ext cx="10870928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My recommendations turn the analysis into a testable growth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383" y="1681956"/>
            <a:ext cx="9574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24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11431" y="1693386"/>
            <a:ext cx="1031988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Test subscriber-only benefits and measure conversion among repeat buyers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0383" y="2393156"/>
            <a:ext cx="10120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24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6000" y="2404586"/>
            <a:ext cx="10265312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Reward repeat purchasing to move customers from Returning to Loyal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0383" y="3104356"/>
            <a:ext cx="100982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24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63817" y="3115786"/>
            <a:ext cx="1026749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discount depth by product to protect margin while preserving demand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383" y="3815556"/>
            <a:ext cx="100307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24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7070" y="3826986"/>
            <a:ext cx="10274241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Feature top-rated products and high-revenue categories in campaigns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383" y="4526756"/>
            <a:ext cx="99454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24" dirty="0">
                <a:solidFill>
                  <a:srgbClr val="2443D0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48538" y="4538186"/>
            <a:ext cx="1028277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71A3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Target high-revenue age groups and customers who choose express shipping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0383" y="2183606"/>
            <a:ext cx="10870928" cy="12700"/>
          </a:xfrm>
          <a:prstGeom prst="rect">
            <a:avLst/>
          </a:prstGeom>
          <a:solidFill>
            <a:srgbClr val="1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0383" y="2894806"/>
            <a:ext cx="10870928" cy="12700"/>
          </a:xfrm>
          <a:prstGeom prst="rect">
            <a:avLst/>
          </a:prstGeom>
          <a:solidFill>
            <a:srgbClr val="1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0383" y="3606006"/>
            <a:ext cx="10870928" cy="12700"/>
          </a:xfrm>
          <a:prstGeom prst="rect">
            <a:avLst/>
          </a:prstGeom>
          <a:solidFill>
            <a:srgbClr val="17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0383" y="4317206"/>
            <a:ext cx="10870928" cy="12700"/>
          </a:xfrm>
          <a:prstGeom prst="rect">
            <a:avLst/>
          </a:prstGeom>
          <a:solidFill>
            <a:srgbClr val="171A3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Widescreen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Funnel Sans Bold</vt:lpstr>
      <vt:lpstr>Funnel Sans SemiBold</vt:lpstr>
      <vt:lpstr>Arial</vt:lpstr>
      <vt:lpstr>Funnel Sans</vt:lpstr>
      <vt:lpstr>Young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lenovo</cp:lastModifiedBy>
  <cp:revision>2</cp:revision>
  <dcterms:created xsi:type="dcterms:W3CDTF">2026-10-12T10:33:51Z</dcterms:created>
  <dcterms:modified xsi:type="dcterms:W3CDTF">2026-10-12T13:24:36Z</dcterms:modified>
</cp:coreProperties>
</file>